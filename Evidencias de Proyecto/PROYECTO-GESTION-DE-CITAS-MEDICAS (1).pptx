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4630400" cy="8229600"/>
  <p:notesSz cx="8229600" cy="14630400"/>
  <p:embeddedFontLst>
    <p:embeddedFont>
      <p:font typeface="Merriweather" panose="000005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hzPL5mvRnl0ZIm95S5tZseKj0o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76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371850" y="1097275"/>
            <a:ext cx="548665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" name="Google Shape;6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" name="Google Shape;79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" name="Google Shape;140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1" name="Google Shape;161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" name="Google Shape;190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91809642ae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0" name="Google Shape;200;g391809642ae_0_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g391809642ae_0_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91809642ae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0" name="Google Shape;210;g391809642ae_0_1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91809642ae_0_1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8" name="Google Shape;218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8" name="Google Shape;228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8" name="Google Shape;238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3" name="Google Shape;273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0" name="Google Shape;280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1" name="Google Shape;291;p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3" name="Google Shape;303;p1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0" name="Google Shape;310;p1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bg>
      <p:bgPr>
        <a:solidFill>
          <a:srgbClr val="000000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7;p17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9;p17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bg>
      <p:bgPr>
        <a:solidFill>
          <a:srgbClr val="000000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18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" name="Google Shape;13;p18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bg>
      <p:bgPr>
        <a:solidFill>
          <a:srgbClr val="000000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19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" name="Google Shape;17;p19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bg>
      <p:bgPr>
        <a:solidFill>
          <a:srgbClr val="000000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20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" name="Google Shape;21;p20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bg>
      <p:bgPr>
        <a:solidFill>
          <a:srgbClr val="000000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21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" name="Google Shape;25;p21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6 master">
  <p:cSld name="Slide 6 master">
    <p:bg>
      <p:bgPr>
        <a:solidFill>
          <a:srgbClr val="000000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22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" name="Google Shape;29;p22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7 master">
  <p:cSld name="Slide 7 master">
    <p:bg>
      <p:bgPr>
        <a:solidFill>
          <a:srgbClr val="000000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23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" name="Google Shape;33;p23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8 master">
  <p:cSld name="Slide 8 master">
    <p:bg>
      <p:bgPr>
        <a:solidFill>
          <a:srgbClr val="000000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24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" name="Google Shape;37;p24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9 master">
  <p:cSld name="Slide 9 master">
    <p:bg>
      <p:bgPr>
        <a:solidFill>
          <a:srgbClr val="000000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25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" name="Google Shape;41;p25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0 master">
  <p:cSld name="Slide 10 master">
    <p:bg>
      <p:bgPr>
        <a:solidFill>
          <a:srgbClr val="000000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26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" name="Google Shape;45;p26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1 master">
  <p:cSld name="Slide 11 master">
    <p:bg>
      <p:bgPr>
        <a:solidFill>
          <a:srgbClr val="000000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27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" name="Google Shape;49;p27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2 master">
  <p:cSld name="Slide 12 master">
    <p:bg>
      <p:bgPr>
        <a:solidFill>
          <a:srgbClr val="000000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28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3" name="Google Shape;53;p28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3 master">
  <p:cSld name="Slide 13 master">
    <p:bg>
      <p:bgPr>
        <a:solidFill>
          <a:srgbClr val="000000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29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7" name="Google Shape;57;p29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4 master">
  <p:cSld name="Slide 14 master">
    <p:bg>
      <p:bgPr>
        <a:solidFill>
          <a:srgbClr val="000000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30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1" name="Google Shape;61;p30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5 master">
  <p:cSld name="Slide 15 master">
    <p:bg>
      <p:bgPr>
        <a:solidFill>
          <a:srgbClr val="000000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31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5" name="Google Shape;65;p31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4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"/>
          <p:cNvSpPr/>
          <p:nvPr/>
        </p:nvSpPr>
        <p:spPr>
          <a:xfrm>
            <a:off x="6350198" y="2158960"/>
            <a:ext cx="7416403" cy="1542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42"/>
              </a:lnSpc>
              <a:spcBef>
                <a:spcPts val="0"/>
              </a:spcBef>
              <a:spcAft>
                <a:spcPts val="0"/>
              </a:spcAft>
              <a:buClr>
                <a:srgbClr val="F5F0F0"/>
              </a:buClr>
              <a:buSzPts val="4850"/>
              <a:buFont typeface="Merriweather"/>
              <a:buNone/>
            </a:pPr>
            <a:r>
              <a:rPr lang="en-US" sz="485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PROYECTO "GESTIÓN DE CITAS MÉDICAS"</a:t>
            </a:r>
            <a:endParaRPr sz="4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"/>
          <p:cNvSpPr/>
          <p:nvPr/>
        </p:nvSpPr>
        <p:spPr>
          <a:xfrm>
            <a:off x="6350198" y="4071699"/>
            <a:ext cx="7416403" cy="394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Merriweather"/>
              <a:buNone/>
            </a:pPr>
            <a:r>
              <a:rPr lang="en-US" sz="19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Transformando la sanidad primaria con soluciones digitales.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"/>
          <p:cNvSpPr/>
          <p:nvPr/>
        </p:nvSpPr>
        <p:spPr>
          <a:xfrm>
            <a:off x="6350198" y="4836676"/>
            <a:ext cx="7416403" cy="1233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74"/>
              </a:lnSpc>
              <a:spcBef>
                <a:spcPts val="0"/>
              </a:spcBef>
              <a:spcAft>
                <a:spcPts val="0"/>
              </a:spcAft>
              <a:buClr>
                <a:srgbClr val="F5F0F0"/>
              </a:buClr>
              <a:buSzPts val="3850"/>
              <a:buFont typeface="Merriweather"/>
              <a:buNone/>
            </a:pPr>
            <a:r>
              <a:rPr lang="en-US" sz="385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PRESENTACIÓN FINAL CAPSTONE</a:t>
            </a:r>
            <a:endParaRPr sz="3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1" descr="Patrón de fondo&#10;&#10;El contenido generado por IA puede ser incorrec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24318" y="7734231"/>
            <a:ext cx="1906082" cy="495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2"/>
          <p:cNvSpPr/>
          <p:nvPr/>
        </p:nvSpPr>
        <p:spPr>
          <a:xfrm>
            <a:off x="863798" y="1553289"/>
            <a:ext cx="7416403" cy="1542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42"/>
              </a:lnSpc>
              <a:spcBef>
                <a:spcPts val="0"/>
              </a:spcBef>
              <a:spcAft>
                <a:spcPts val="0"/>
              </a:spcAft>
              <a:buClr>
                <a:srgbClr val="F5F0F0"/>
              </a:buClr>
              <a:buSzPts val="4850"/>
              <a:buFont typeface="Merriweather"/>
              <a:buNone/>
            </a:pPr>
            <a:r>
              <a:rPr lang="en-US" sz="485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INTEGRANTE DEL PROYECTO</a:t>
            </a:r>
            <a:endParaRPr sz="4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863798" y="3466028"/>
            <a:ext cx="7416403" cy="3210163"/>
          </a:xfrm>
          <a:prstGeom prst="roundRect">
            <a:avLst>
              <a:gd name="adj" fmla="val 3229"/>
            </a:avLst>
          </a:prstGeom>
          <a:solidFill>
            <a:srgbClr val="09151A">
              <a:alpha val="94901"/>
            </a:srgbClr>
          </a:solidFill>
          <a:ln w="30475" cap="flat" cmpd="sng">
            <a:solidFill>
              <a:srgbClr val="194A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894278" y="3496508"/>
            <a:ext cx="987266" cy="3149203"/>
          </a:xfrm>
          <a:prstGeom prst="roundRect">
            <a:avLst>
              <a:gd name="adj" fmla="val 6796"/>
            </a:avLst>
          </a:prstGeom>
          <a:solidFill>
            <a:srgbClr val="00318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1195149" y="4839653"/>
            <a:ext cx="370165" cy="462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900"/>
              <a:buFont typeface="Merriweather"/>
              <a:buNone/>
            </a:pPr>
            <a:r>
              <a:rPr lang="en-US" sz="29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1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"/>
          <p:cNvSpPr/>
          <p:nvPr/>
        </p:nvSpPr>
        <p:spPr>
          <a:xfrm>
            <a:off x="2128361" y="3743325"/>
            <a:ext cx="3085386" cy="385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400"/>
              <a:buFont typeface="Merriweather"/>
              <a:buNone/>
            </a:pPr>
            <a:r>
              <a:rPr lang="en-US" sz="24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Julio Díaz Rojo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2"/>
          <p:cNvSpPr/>
          <p:nvPr/>
        </p:nvSpPr>
        <p:spPr>
          <a:xfrm>
            <a:off x="2128361" y="4276844"/>
            <a:ext cx="5874544" cy="394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Merriweather"/>
              <a:buNone/>
            </a:pPr>
            <a:r>
              <a:rPr lang="en-US" sz="1900" b="1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Rol:</a:t>
            </a:r>
            <a:r>
              <a:rPr lang="en-US" sz="19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Desarrollador Full-stack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2"/>
          <p:cNvSpPr/>
          <p:nvPr/>
        </p:nvSpPr>
        <p:spPr>
          <a:xfrm>
            <a:off x="2128361" y="4819650"/>
            <a:ext cx="5874544" cy="1579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Merriweather"/>
              <a:buNone/>
            </a:pPr>
            <a:r>
              <a:rPr lang="en-US" sz="1900" b="1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Funciones:</a:t>
            </a:r>
            <a:r>
              <a:rPr lang="en-US" sz="19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Liderazgo del proyecto, diseño de arquitectura, desarrollo backend (Django), integración de base de datos y coordinación de pruebas.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/>
          <p:nvPr/>
        </p:nvSpPr>
        <p:spPr>
          <a:xfrm>
            <a:off x="670798" y="543044"/>
            <a:ext cx="4968002" cy="389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489"/>
              </a:lnSpc>
              <a:spcBef>
                <a:spcPts val="0"/>
              </a:spcBef>
              <a:spcAft>
                <a:spcPts val="0"/>
              </a:spcAft>
              <a:buClr>
                <a:srgbClr val="F5F0F0"/>
              </a:buClr>
              <a:buSzPts val="2450"/>
              <a:buFont typeface="Merriweather"/>
              <a:buNone/>
            </a:pPr>
            <a:r>
              <a:rPr lang="en-US" sz="2450" dirty="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DESCRIPCIÓN DEL PROYECTO</a:t>
            </a:r>
            <a:endParaRPr sz="24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670797" y="1243727"/>
            <a:ext cx="6143659" cy="311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F5F0F0"/>
              </a:buClr>
              <a:buSzPts val="1950"/>
              <a:buFont typeface="Merriweather"/>
              <a:buNone/>
            </a:pPr>
            <a:r>
              <a:rPr lang="en-US" sz="1950" dirty="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El </a:t>
            </a:r>
            <a:r>
              <a:rPr lang="en-US" sz="1950" dirty="0" err="1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Problema</a:t>
            </a:r>
            <a:r>
              <a:rPr lang="en-US" sz="1950" dirty="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: </a:t>
            </a:r>
            <a:r>
              <a:rPr lang="en-US" sz="1950" dirty="0" err="1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Gestión</a:t>
            </a:r>
            <a:r>
              <a:rPr lang="en-US" sz="1950" dirty="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 Manual y sus </a:t>
            </a:r>
            <a:r>
              <a:rPr lang="en-US" sz="1950" dirty="0" err="1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Consecuencias</a:t>
            </a:r>
            <a:endParaRPr sz="19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670798" y="1679734"/>
            <a:ext cx="6492478" cy="199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950"/>
              <a:buFont typeface="Merriweather"/>
              <a:buChar char="•"/>
            </a:pPr>
            <a:r>
              <a:rPr lang="en-US" sz="9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Los centros de salud a menudo dependen de </a:t>
            </a:r>
            <a:r>
              <a:rPr lang="en-US" sz="950" b="1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sistemas manuales</a:t>
            </a:r>
            <a:r>
              <a:rPr lang="en-US" sz="9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para gestionar citas.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670798" y="1922502"/>
            <a:ext cx="6492478" cy="199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950"/>
              <a:buFont typeface="Merriweather"/>
              <a:buChar char="•"/>
            </a:pPr>
            <a:r>
              <a:rPr lang="en-US" sz="9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Esto conlleva a </a:t>
            </a:r>
            <a:r>
              <a:rPr lang="en-US" sz="950" b="1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largos tiempos de espera</a:t>
            </a:r>
            <a:r>
              <a:rPr lang="en-US" sz="9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para los pacientes.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670798" y="2165271"/>
            <a:ext cx="6492478" cy="199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950"/>
              <a:buFont typeface="Merriweather"/>
              <a:buChar char="•"/>
            </a:pPr>
            <a:r>
              <a:rPr lang="en-US" sz="9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Genera </a:t>
            </a:r>
            <a:r>
              <a:rPr lang="en-US" sz="950" b="1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pérdida de información</a:t>
            </a:r>
            <a:r>
              <a:rPr lang="en-US" sz="9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y </a:t>
            </a:r>
            <a:r>
              <a:rPr lang="en-US" sz="950" b="1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errores</a:t>
            </a:r>
            <a:r>
              <a:rPr lang="en-US" sz="9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en la asignación de horas médicas.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670798" y="2408039"/>
            <a:ext cx="6492478" cy="199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950"/>
              <a:buFont typeface="Merriweather"/>
              <a:buChar char="•"/>
            </a:pPr>
            <a:r>
              <a:rPr lang="en-US" sz="9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Los pacientes tienen </a:t>
            </a:r>
            <a:r>
              <a:rPr lang="en-US" sz="950" b="1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poca autonomía</a:t>
            </a:r>
            <a:r>
              <a:rPr lang="en-US" sz="9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para consultar o modificar sus citas.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670798" y="2650808"/>
            <a:ext cx="6492478" cy="199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950"/>
              <a:buFont typeface="Merriweather"/>
              <a:buChar char="•"/>
            </a:pPr>
            <a:r>
              <a:rPr lang="en-US" sz="9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El personal administrativo enfrenta </a:t>
            </a:r>
            <a:r>
              <a:rPr lang="en-US" sz="950" b="1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grandes dificultades</a:t>
            </a:r>
            <a:r>
              <a:rPr lang="en-US" sz="9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para organizar las agendas.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0798" y="2990136"/>
            <a:ext cx="4220051" cy="4220051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3"/>
          <p:cNvSpPr/>
          <p:nvPr/>
        </p:nvSpPr>
        <p:spPr>
          <a:xfrm>
            <a:off x="7474744" y="1243727"/>
            <a:ext cx="6023542" cy="311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F5F0F0"/>
              </a:buClr>
              <a:buSzPts val="1950"/>
              <a:buFont typeface="Merriweather"/>
              <a:buNone/>
            </a:pPr>
            <a:r>
              <a:rPr lang="en-US" sz="1950" dirty="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Nuestra </a:t>
            </a:r>
            <a:r>
              <a:rPr lang="en-US" sz="1950" dirty="0" err="1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Propuesta</a:t>
            </a:r>
            <a:r>
              <a:rPr lang="en-US" sz="1950" dirty="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: Una Plataforma Web Integral</a:t>
            </a:r>
            <a:endParaRPr sz="19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7474744" y="1679734"/>
            <a:ext cx="6492478" cy="199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950"/>
              <a:buFont typeface="Merriweather"/>
              <a:buNone/>
            </a:pPr>
            <a:r>
              <a:rPr lang="en-US" sz="9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Desarrollar una solución web robusta y fácil de usar que permita: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7474744" y="1990963"/>
            <a:ext cx="6492478" cy="199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950"/>
              <a:buFont typeface="Merriweather"/>
              <a:buChar char="•"/>
            </a:pPr>
            <a:r>
              <a:rPr lang="en-US" sz="950" b="1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Agendar, modificar y cancelar citas</a:t>
            </a:r>
            <a:r>
              <a:rPr lang="en-US" sz="9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de manera intuitiva por parte del paciente.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7474744" y="2233732"/>
            <a:ext cx="6492478" cy="199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950"/>
              <a:buFont typeface="Merriweather"/>
              <a:buChar char="•"/>
            </a:pPr>
            <a:r>
              <a:rPr lang="en-US" sz="9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Un </a:t>
            </a:r>
            <a:r>
              <a:rPr lang="en-US" sz="950" b="1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panel administrativo</a:t>
            </a:r>
            <a:r>
              <a:rPr lang="en-US" sz="9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completo para la gestión eficiente de la agenda médica y recursos.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7474744" y="2476500"/>
            <a:ext cx="6492478" cy="199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950"/>
              <a:buFont typeface="Merriweather"/>
              <a:buChar char="•"/>
            </a:pPr>
            <a:r>
              <a:rPr lang="en-US" sz="950" b="1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Acceso dedicado para médicos</a:t>
            </a:r>
            <a:r>
              <a:rPr lang="en-US" sz="9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para una gestión autónoma de sus disponibilidades y atenciones.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7474744" y="2787729"/>
            <a:ext cx="6492478" cy="398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950"/>
              <a:buFont typeface="Merriweather"/>
              <a:buNone/>
            </a:pPr>
            <a:r>
              <a:rPr lang="en-US" sz="950" b="1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Tecnología:</a:t>
            </a:r>
            <a:r>
              <a:rPr lang="en-US" sz="9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Construida con Python - Django (MVT), Bootstrap para un diseño responsive y MySQL como base de datos.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74744" y="3326249"/>
            <a:ext cx="4220051" cy="4220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 descr="Patrón de fondo&#10;&#10;El contenido generado por IA puede ser incorrecto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724318" y="7734231"/>
            <a:ext cx="1906082" cy="495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/>
          <p:nvPr/>
        </p:nvSpPr>
        <p:spPr>
          <a:xfrm>
            <a:off x="863798" y="878681"/>
            <a:ext cx="5907116" cy="501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F5F0F0"/>
              </a:buClr>
              <a:buSzPts val="3150"/>
              <a:buFont typeface="Merriweather"/>
              <a:buNone/>
            </a:pPr>
            <a:r>
              <a:rPr lang="en-US" sz="3150" dirty="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OBJETIVOS DEL PROYECTO</a:t>
            </a:r>
            <a:endParaRPr sz="31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863798" y="1700927"/>
            <a:ext cx="12902803" cy="1377077"/>
          </a:xfrm>
          <a:prstGeom prst="roundRect">
            <a:avLst>
              <a:gd name="adj" fmla="val 7968"/>
            </a:avLst>
          </a:prstGeom>
          <a:solidFill>
            <a:srgbClr val="09151A">
              <a:alpha val="94901"/>
            </a:srgbClr>
          </a:solidFill>
          <a:ln w="22850" cap="flat" cmpd="sng">
            <a:solidFill>
              <a:srgbClr val="194A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840938" y="1700927"/>
            <a:ext cx="91440" cy="1377077"/>
          </a:xfrm>
          <a:prstGeom prst="roundRect">
            <a:avLst>
              <a:gd name="adj" fmla="val 73693"/>
            </a:avLst>
          </a:prstGeom>
          <a:solidFill>
            <a:srgbClr val="609D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1115616" y="1884164"/>
            <a:ext cx="3208734" cy="401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500"/>
              <a:buFont typeface="Merriweather"/>
              <a:buNone/>
            </a:pPr>
            <a:r>
              <a:rPr lang="en-US" sz="25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Objetivo General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1115616" y="2381369"/>
            <a:ext cx="12467749" cy="513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250"/>
              <a:buFont typeface="Merriweather"/>
              <a:buNone/>
            </a:pPr>
            <a:r>
              <a:rPr lang="en-US" sz="12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Diseñar e implementar una plataforma web avanzada para la gestión de citas en centros de salud primaria. Nuestro meta es </a:t>
            </a:r>
            <a:r>
              <a:rPr lang="en-US" sz="1250">
                <a:solidFill>
                  <a:srgbClr val="609DFF"/>
                </a:solidFill>
                <a:latin typeface="Merriweather"/>
                <a:ea typeface="Merriweather"/>
                <a:cs typeface="Merriweather"/>
                <a:sym typeface="Merriweather"/>
              </a:rPr>
              <a:t>mejorar la eficiencia en la atención en un 30%</a:t>
            </a:r>
            <a:r>
              <a:rPr lang="en-US" sz="12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, reduciendo significativamente los tiempos de espera y eliminando errores en la asignación de citas.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863798" y="3258383"/>
            <a:ext cx="360878" cy="360878"/>
          </a:xfrm>
          <a:prstGeom prst="roundRect">
            <a:avLst>
              <a:gd name="adj" fmla="val 18673"/>
            </a:avLst>
          </a:prstGeom>
          <a:solidFill>
            <a:srgbClr val="003180"/>
          </a:solidFill>
          <a:ln w="9525" cap="flat" cmpd="sng">
            <a:solidFill>
              <a:srgbClr val="194A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923865" y="3288387"/>
            <a:ext cx="240625" cy="300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850"/>
              <a:buFont typeface="Merriweather"/>
              <a:buNone/>
            </a:pPr>
            <a:r>
              <a:rPr lang="en-US" sz="18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1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1385054" y="3288387"/>
            <a:ext cx="2440186" cy="300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850"/>
              <a:buFont typeface="Merriweather"/>
              <a:buNone/>
            </a:pPr>
            <a:r>
              <a:rPr lang="en-US" sz="18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Objetivos Específicos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1385054" y="3685342"/>
            <a:ext cx="12381548" cy="256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250"/>
              <a:buFont typeface="Merriweather"/>
              <a:buNone/>
            </a:pPr>
            <a:r>
              <a:rPr lang="en-US" sz="1250" b="1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Requerimientos:</a:t>
            </a:r>
            <a:r>
              <a:rPr lang="en-US" sz="12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Levantar y documentar detalladamente los requisitos funcionales y no funcionales del sistema.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863798" y="4262914"/>
            <a:ext cx="360878" cy="360878"/>
          </a:xfrm>
          <a:prstGeom prst="roundRect">
            <a:avLst>
              <a:gd name="adj" fmla="val 18673"/>
            </a:avLst>
          </a:prstGeom>
          <a:solidFill>
            <a:srgbClr val="003180"/>
          </a:solidFill>
          <a:ln w="9525" cap="flat" cmpd="sng">
            <a:solidFill>
              <a:srgbClr val="194A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923865" y="4292918"/>
            <a:ext cx="240625" cy="300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850"/>
              <a:buFont typeface="Merriweather"/>
              <a:buNone/>
            </a:pPr>
            <a:r>
              <a:rPr lang="en-US" sz="18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2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1385054" y="4314944"/>
            <a:ext cx="12381548" cy="256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250"/>
              <a:buFont typeface="Merriweather"/>
              <a:buNone/>
            </a:pPr>
            <a:r>
              <a:rPr lang="en-US" sz="1250" b="1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Diseño:</a:t>
            </a:r>
            <a:r>
              <a:rPr lang="en-US" sz="12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Diseñar la arquitectura, modelo de datos y prototipos de interfaz, asegurando una usabilidad óptima y moderna.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863798" y="4944666"/>
            <a:ext cx="360878" cy="360878"/>
          </a:xfrm>
          <a:prstGeom prst="roundRect">
            <a:avLst>
              <a:gd name="adj" fmla="val 18673"/>
            </a:avLst>
          </a:prstGeom>
          <a:solidFill>
            <a:srgbClr val="003180"/>
          </a:solidFill>
          <a:ln w="9525" cap="flat" cmpd="sng">
            <a:solidFill>
              <a:srgbClr val="194A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923865" y="4974669"/>
            <a:ext cx="240625" cy="300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850"/>
              <a:buFont typeface="Merriweather"/>
              <a:buNone/>
            </a:pPr>
            <a:r>
              <a:rPr lang="en-US" sz="18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3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1385054" y="4996696"/>
            <a:ext cx="12381548" cy="256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250"/>
              <a:buFont typeface="Merriweather"/>
              <a:buNone/>
            </a:pPr>
            <a:r>
              <a:rPr lang="en-US" sz="1250" b="1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Desarrollo:</a:t>
            </a:r>
            <a:r>
              <a:rPr lang="en-US" sz="12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Desarrollar los módulos clave: agendamiento, modificación, cancelación y el panel administrativo completo.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863798" y="5626418"/>
            <a:ext cx="360878" cy="360878"/>
          </a:xfrm>
          <a:prstGeom prst="roundRect">
            <a:avLst>
              <a:gd name="adj" fmla="val 18673"/>
            </a:avLst>
          </a:prstGeom>
          <a:solidFill>
            <a:srgbClr val="003180"/>
          </a:solidFill>
          <a:ln w="9525" cap="flat" cmpd="sng">
            <a:solidFill>
              <a:srgbClr val="194A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923865" y="5656421"/>
            <a:ext cx="240625" cy="300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850"/>
              <a:buFont typeface="Merriweather"/>
              <a:buNone/>
            </a:pPr>
            <a:r>
              <a:rPr lang="en-US" sz="18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4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1385054" y="5678448"/>
            <a:ext cx="12381548" cy="256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250"/>
              <a:buFont typeface="Merriweather"/>
              <a:buNone/>
            </a:pPr>
            <a:r>
              <a:rPr lang="en-US" sz="1250" b="1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Seguridad:</a:t>
            </a:r>
            <a:r>
              <a:rPr lang="en-US" sz="12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Implementar autenticación robusta y roles de usuario (pacientes, médicos, administradores) para garantizar la seguridad y privacidad.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863798" y="6308169"/>
            <a:ext cx="360878" cy="360878"/>
          </a:xfrm>
          <a:prstGeom prst="roundRect">
            <a:avLst>
              <a:gd name="adj" fmla="val 18673"/>
            </a:avLst>
          </a:prstGeom>
          <a:solidFill>
            <a:srgbClr val="003180"/>
          </a:solidFill>
          <a:ln w="9525" cap="flat" cmpd="sng">
            <a:solidFill>
              <a:srgbClr val="194A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923865" y="6338173"/>
            <a:ext cx="240625" cy="300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850"/>
              <a:buFont typeface="Merriweather"/>
              <a:buNone/>
            </a:pPr>
            <a:r>
              <a:rPr lang="en-US" sz="18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5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1385054" y="6360200"/>
            <a:ext cx="12381548" cy="256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250"/>
              <a:buFont typeface="Merriweather"/>
              <a:buNone/>
            </a:pPr>
            <a:r>
              <a:rPr lang="en-US" sz="1250" b="1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Pruebas:</a:t>
            </a:r>
            <a:r>
              <a:rPr lang="en-US" sz="12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Realizar pruebas funcionales y de usabilidad exhaustivas, corrigiendo el 90% de los incidentes detectados antes del lanzamiento.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4" descr="Patrón de fondo&#10;&#10;El contenido generado por IA puede ser incorrec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724318" y="7734231"/>
            <a:ext cx="1906082" cy="495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"/>
          <p:cNvSpPr/>
          <p:nvPr/>
        </p:nvSpPr>
        <p:spPr>
          <a:xfrm>
            <a:off x="683181" y="536734"/>
            <a:ext cx="4397216" cy="396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530"/>
              </a:lnSpc>
              <a:spcBef>
                <a:spcPts val="0"/>
              </a:spcBef>
              <a:spcAft>
                <a:spcPts val="0"/>
              </a:spcAft>
              <a:buClr>
                <a:srgbClr val="F5F0F0"/>
              </a:buClr>
              <a:buSzPts val="2450"/>
              <a:buFont typeface="Merriweather"/>
              <a:buNone/>
            </a:pPr>
            <a:r>
              <a:rPr lang="en-US" sz="245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ALCANCES Y LIMITACIONES</a:t>
            </a:r>
            <a:endParaRPr sz="2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683181" y="1250275"/>
            <a:ext cx="2778476" cy="317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F5F0F0"/>
              </a:buClr>
              <a:buSzPts val="1950"/>
              <a:buFont typeface="Merriweather"/>
              <a:buNone/>
            </a:pPr>
            <a:r>
              <a:rPr lang="en-US" sz="1950" dirty="0" err="1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Alcances</a:t>
            </a:r>
            <a:r>
              <a:rPr lang="en-US" sz="1950" dirty="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 del Proyecto</a:t>
            </a:r>
            <a:endParaRPr sz="19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683181" y="1694140"/>
            <a:ext cx="6477238" cy="203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950"/>
              <a:buFont typeface="Merriweather"/>
              <a:buChar char="•"/>
            </a:pPr>
            <a:r>
              <a:rPr lang="en-US" sz="950" b="1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Gestión Integral de Citas (CRUD):</a:t>
            </a:r>
            <a:r>
              <a:rPr lang="en-US" sz="9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Creación, lectura, actualización y eliminación de citas.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683181" y="1941433"/>
            <a:ext cx="6477238" cy="203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950"/>
              <a:buFont typeface="Merriweather"/>
              <a:buChar char="•"/>
            </a:pPr>
            <a:r>
              <a:rPr lang="en-US" sz="950" b="1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Agenda Médica Semanal:</a:t>
            </a:r>
            <a:r>
              <a:rPr lang="en-US" sz="9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Visualización y organización de la disponibilidad de los profesionales.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683181" y="2188726"/>
            <a:ext cx="6477238" cy="203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950"/>
              <a:buFont typeface="Merriweather"/>
              <a:buChar char="•"/>
            </a:pPr>
            <a:r>
              <a:rPr lang="en-US" sz="950" b="1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Panel Administrativo:</a:t>
            </a:r>
            <a:r>
              <a:rPr lang="en-US" sz="9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Herramienta completa para la gestión de usuarios y citas.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683181" y="2436019"/>
            <a:ext cx="6477238" cy="203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950"/>
              <a:buFont typeface="Merriweather"/>
              <a:buChar char="•"/>
            </a:pPr>
            <a:r>
              <a:rPr lang="en-US" sz="950" b="1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Perfiles Personalizados:</a:t>
            </a:r>
            <a:r>
              <a:rPr lang="en-US" sz="9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Acceso diferenciado para pacientes y médicos.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683181" y="2683312"/>
            <a:ext cx="6477238" cy="203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950"/>
              <a:buFont typeface="Merriweather"/>
              <a:buChar char="•"/>
            </a:pPr>
            <a:r>
              <a:rPr lang="en-US" sz="950" b="1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Búsqueda Dinámica:</a:t>
            </a:r>
            <a:r>
              <a:rPr lang="en-US" sz="9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Filtros avanzados por especialidad, sucursal y médico.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683181" y="2930604"/>
            <a:ext cx="6477238" cy="203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950"/>
              <a:buFont typeface="Merriweather"/>
              <a:buChar char="•"/>
            </a:pPr>
            <a:r>
              <a:rPr lang="en-US" sz="950" b="1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Formularios con AJAX:</a:t>
            </a:r>
            <a:r>
              <a:rPr lang="en-US" sz="9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Interacción fluida y en tiempo real sin recargar la página.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683181" y="3177897"/>
            <a:ext cx="6477238" cy="203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950"/>
              <a:buFont typeface="Merriweather"/>
              <a:buChar char="•"/>
            </a:pPr>
            <a:r>
              <a:rPr lang="en-US" sz="950" b="1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Sistema de Roles:</a:t>
            </a:r>
            <a:r>
              <a:rPr lang="en-US" sz="9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Paciente, Médico, Administrador, con permisos específicos.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3181" y="3523536"/>
            <a:ext cx="4210169" cy="4210169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5"/>
          <p:cNvSpPr/>
          <p:nvPr/>
        </p:nvSpPr>
        <p:spPr>
          <a:xfrm>
            <a:off x="7477601" y="1250275"/>
            <a:ext cx="3386342" cy="317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F5F0F0"/>
              </a:buClr>
              <a:buSzPts val="1950"/>
              <a:buFont typeface="Merriweather"/>
              <a:buNone/>
            </a:pPr>
            <a:r>
              <a:rPr lang="en-US" sz="1950" dirty="0" err="1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Limitaciones</a:t>
            </a:r>
            <a:r>
              <a:rPr lang="en-US" sz="1950" dirty="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1950" dirty="0" err="1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Identificadas</a:t>
            </a:r>
            <a:endParaRPr sz="19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7477601" y="1694140"/>
            <a:ext cx="6477238" cy="406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950"/>
              <a:buFont typeface="Merriweather"/>
              <a:buChar char="•"/>
            </a:pPr>
            <a:r>
              <a:rPr lang="en-US" sz="950" b="1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No Interoperabilidad con Sistemas Reales:</a:t>
            </a:r>
            <a:r>
              <a:rPr lang="en-US" sz="9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No hay conexión con plataformas de salud externas existentes.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7477601" y="2144435"/>
            <a:ext cx="6477238" cy="203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950"/>
              <a:buFont typeface="Merriweather"/>
              <a:buChar char="•"/>
            </a:pPr>
            <a:r>
              <a:rPr lang="en-US" sz="950" b="1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Historial Clínico Básico:</a:t>
            </a:r>
            <a:r>
              <a:rPr lang="en-US" sz="9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Diseño para un historial básico, no para expedientes clínicos complejos.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7477601" y="2391728"/>
            <a:ext cx="6477238" cy="406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950"/>
              <a:buFont typeface="Merriweather"/>
              <a:buChar char="•"/>
            </a:pPr>
            <a:r>
              <a:rPr lang="en-US" sz="950" b="1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Solo Web Responsive:</a:t>
            </a:r>
            <a:r>
              <a:rPr lang="en-US" sz="9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No se desarrollará una aplicación móvil nativa; la plataforma se adapta a dispositivos.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77601" y="2940367"/>
            <a:ext cx="4210169" cy="4210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5" descr="Patrón de fondo&#10;&#10;El contenido generado por IA puede ser incorrecto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724318" y="7734231"/>
            <a:ext cx="1906082" cy="495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"/>
          <p:cNvSpPr/>
          <p:nvPr/>
        </p:nvSpPr>
        <p:spPr>
          <a:xfrm>
            <a:off x="760095" y="597218"/>
            <a:ext cx="4965502" cy="441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rgbClr val="F5F0F0"/>
              </a:buClr>
              <a:buSzPts val="2750"/>
              <a:buFont typeface="Merriweather"/>
              <a:buNone/>
            </a:pPr>
            <a:r>
              <a:rPr lang="en-US" sz="275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METODOLOGÍA DE TRABAJO</a:t>
            </a:r>
            <a:endParaRPr sz="2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760095" y="1320641"/>
            <a:ext cx="13110210" cy="225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100"/>
              <a:buFont typeface="Merriweather"/>
              <a:buNone/>
            </a:pPr>
            <a:r>
              <a:rPr lang="en-US" sz="11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Adoptamos una </a:t>
            </a:r>
            <a:r>
              <a:rPr lang="en-US" sz="1100">
                <a:solidFill>
                  <a:srgbClr val="609DFF"/>
                </a:solidFill>
                <a:latin typeface="Merriweather"/>
                <a:ea typeface="Merriweather"/>
                <a:cs typeface="Merriweather"/>
                <a:sym typeface="Merriweather"/>
              </a:rPr>
              <a:t>metodología tradicional en cascada</a:t>
            </a:r>
            <a:r>
              <a:rPr lang="en-US" sz="11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, estructurando el desarrollo del proyecto en fases secuenciales y bien definidas para asegurar la calidad y el control en cada etapa.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" name="Google Shape;166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0095" y="1705213"/>
            <a:ext cx="705803" cy="846892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6"/>
          <p:cNvSpPr/>
          <p:nvPr/>
        </p:nvSpPr>
        <p:spPr>
          <a:xfrm>
            <a:off x="1606987" y="1846302"/>
            <a:ext cx="2477453" cy="220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350"/>
              <a:buFont typeface="Merriweather"/>
              <a:buNone/>
            </a:pPr>
            <a:r>
              <a:rPr lang="en-US" sz="13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1. Análisis de Requerimientos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1606987" y="2151459"/>
            <a:ext cx="12263318" cy="225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100"/>
              <a:buFont typeface="Merriweather"/>
              <a:buNone/>
            </a:pPr>
            <a:r>
              <a:rPr lang="en-US" sz="11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Recopilación y documentación exhaustiva de las necesidades del usuario.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0095" y="2552105"/>
            <a:ext cx="705803" cy="846892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6"/>
          <p:cNvSpPr/>
          <p:nvPr/>
        </p:nvSpPr>
        <p:spPr>
          <a:xfrm>
            <a:off x="1606987" y="2693194"/>
            <a:ext cx="3479006" cy="220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350"/>
              <a:buFont typeface="Merriweather"/>
              <a:buNone/>
            </a:pPr>
            <a:r>
              <a:rPr lang="en-US" sz="13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2. Diseño de Arquitectura y Base de Datos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1606987" y="2998351"/>
            <a:ext cx="12263318" cy="225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100"/>
              <a:buFont typeface="Merriweather"/>
              <a:buNone/>
            </a:pPr>
            <a:r>
              <a:rPr lang="en-US" sz="11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Definición de la estructura del sistema y el modelo de datos.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p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0095" y="3398996"/>
            <a:ext cx="705803" cy="846892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6"/>
          <p:cNvSpPr/>
          <p:nvPr/>
        </p:nvSpPr>
        <p:spPr>
          <a:xfrm>
            <a:off x="1606987" y="3540085"/>
            <a:ext cx="2591157" cy="220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350"/>
              <a:buFont typeface="Merriweather"/>
              <a:buNone/>
            </a:pPr>
            <a:r>
              <a:rPr lang="en-US" sz="13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3. Diseño de Interfaces (UI/UX)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1606987" y="3845243"/>
            <a:ext cx="12263318" cy="225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100"/>
              <a:buFont typeface="Merriweather"/>
              <a:buNone/>
            </a:pPr>
            <a:r>
              <a:rPr lang="en-US" sz="11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Creación de prototipos y maquetas para una experiencia de usuario óptima.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5" name="Google Shape;175;p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0095" y="4245888"/>
            <a:ext cx="705803" cy="84689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6"/>
          <p:cNvSpPr/>
          <p:nvPr/>
        </p:nvSpPr>
        <p:spPr>
          <a:xfrm>
            <a:off x="1606987" y="4386977"/>
            <a:ext cx="2608064" cy="220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350"/>
              <a:buFont typeface="Merriweather"/>
              <a:buNone/>
            </a:pPr>
            <a:r>
              <a:rPr lang="en-US" sz="13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4. Desarrollo Backend (Django)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1606987" y="4692134"/>
            <a:ext cx="12263318" cy="225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100"/>
              <a:buFont typeface="Merriweather"/>
              <a:buNone/>
            </a:pPr>
            <a:r>
              <a:rPr lang="en-US" sz="11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Implementación de la lógica del servidor y la gestión de datos.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6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0095" y="5092779"/>
            <a:ext cx="705803" cy="84689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6"/>
          <p:cNvSpPr/>
          <p:nvPr/>
        </p:nvSpPr>
        <p:spPr>
          <a:xfrm>
            <a:off x="1606987" y="5233868"/>
            <a:ext cx="2515433" cy="220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350"/>
              <a:buFont typeface="Merriweather"/>
              <a:buNone/>
            </a:pPr>
            <a:r>
              <a:rPr lang="en-US" sz="13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5. Desarrollo Frontend + AJAX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1606987" y="5539026"/>
            <a:ext cx="12263318" cy="225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100"/>
              <a:buFont typeface="Merriweather"/>
              <a:buNone/>
            </a:pPr>
            <a:r>
              <a:rPr lang="en-US" sz="11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Construcción de la interfaz de usuario con interactividad dinámica.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p6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0095" y="5939671"/>
            <a:ext cx="705803" cy="846892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6"/>
          <p:cNvSpPr/>
          <p:nvPr/>
        </p:nvSpPr>
        <p:spPr>
          <a:xfrm>
            <a:off x="1606987" y="6080760"/>
            <a:ext cx="3020020" cy="220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350"/>
              <a:buFont typeface="Merriweather"/>
              <a:buNone/>
            </a:pPr>
            <a:r>
              <a:rPr lang="en-US" sz="13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6. Pruebas Funcionales y Usabilidad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1606987" y="6385917"/>
            <a:ext cx="12263318" cy="225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100"/>
              <a:buFont typeface="Merriweather"/>
              <a:buNone/>
            </a:pPr>
            <a:r>
              <a:rPr lang="en-US" sz="11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Verificación de la funcionalidad y facilidad de uso del sistema.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p6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60095" y="6786562"/>
            <a:ext cx="705803" cy="846892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6"/>
          <p:cNvSpPr/>
          <p:nvPr/>
        </p:nvSpPr>
        <p:spPr>
          <a:xfrm>
            <a:off x="1606987" y="6927652"/>
            <a:ext cx="1991201" cy="220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350"/>
              <a:buFont typeface="Merriweather"/>
              <a:buNone/>
            </a:pPr>
            <a:r>
              <a:rPr lang="en-US" sz="13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7. Documentación Final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1606987" y="7232809"/>
            <a:ext cx="12263318" cy="225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100"/>
              <a:buFont typeface="Merriweather"/>
              <a:buNone/>
            </a:pPr>
            <a:r>
              <a:rPr lang="en-US" sz="11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Elaboración de manuales y documentos técnicos del proyecto.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" name="Google Shape;187;p6" descr="Patrón de fondo&#10;&#10;El contenido generado por IA puede ser incorrecto.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2724318" y="7734231"/>
            <a:ext cx="1906082" cy="495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7"/>
          <p:cNvSpPr/>
          <p:nvPr/>
        </p:nvSpPr>
        <p:spPr>
          <a:xfrm>
            <a:off x="6196473" y="216748"/>
            <a:ext cx="7416300" cy="15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42"/>
              </a:lnSpc>
              <a:spcBef>
                <a:spcPts val="0"/>
              </a:spcBef>
              <a:spcAft>
                <a:spcPts val="0"/>
              </a:spcAft>
              <a:buClr>
                <a:srgbClr val="F5F0F0"/>
              </a:buClr>
              <a:buSzPts val="4850"/>
              <a:buFont typeface="Merriweather"/>
              <a:buNone/>
            </a:pPr>
            <a:r>
              <a:rPr lang="en-US" sz="485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CRONOGRAMA DEL PROYECTO</a:t>
            </a:r>
            <a:endParaRPr sz="4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7" descr="Patrón de fondo&#10;&#10;El contenido generado por IA puede ser incorrec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24318" y="7734231"/>
            <a:ext cx="1906082" cy="495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6" y="1911750"/>
            <a:ext cx="5903680" cy="631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08774" y="1987948"/>
            <a:ext cx="5776640" cy="61654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g391809642ae_0_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g391809642ae_0_4"/>
          <p:cNvSpPr/>
          <p:nvPr/>
        </p:nvSpPr>
        <p:spPr>
          <a:xfrm>
            <a:off x="6196473" y="216748"/>
            <a:ext cx="7416300" cy="15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42"/>
              </a:lnSpc>
              <a:spcBef>
                <a:spcPts val="0"/>
              </a:spcBef>
              <a:spcAft>
                <a:spcPts val="0"/>
              </a:spcAft>
              <a:buClr>
                <a:srgbClr val="F5F0F0"/>
              </a:buClr>
              <a:buSzPts val="4850"/>
              <a:buFont typeface="Merriweather"/>
              <a:buNone/>
            </a:pPr>
            <a:r>
              <a:rPr lang="en-US" sz="485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CRONOGRAMA DEL PROYECTO</a:t>
            </a:r>
            <a:endParaRPr sz="4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" name="Google Shape;205;g391809642ae_0_4" descr="Patrón de fondo&#10;&#10;El contenido generado por IA puede ser incorrec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24318" y="7734231"/>
            <a:ext cx="1906082" cy="495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g391809642ae_0_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998275"/>
            <a:ext cx="5486399" cy="623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g391809642ae_0_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62454" y="1998273"/>
            <a:ext cx="6886575" cy="438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91809642ae_0_15"/>
          <p:cNvSpPr/>
          <p:nvPr/>
        </p:nvSpPr>
        <p:spPr>
          <a:xfrm>
            <a:off x="1726326" y="216750"/>
            <a:ext cx="11886600" cy="15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4742"/>
              </a:lnSpc>
              <a:spcBef>
                <a:spcPts val="0"/>
              </a:spcBef>
              <a:spcAft>
                <a:spcPts val="0"/>
              </a:spcAft>
              <a:buClr>
                <a:srgbClr val="F5F0F0"/>
              </a:buClr>
              <a:buSzPts val="4850"/>
              <a:buFont typeface="Merriweather"/>
              <a:buNone/>
            </a:pPr>
            <a:r>
              <a:rPr lang="en-US" sz="485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PRESUPUESTO DEL PROYECTO</a:t>
            </a:r>
            <a:endParaRPr sz="4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" name="Google Shape;214;g391809642ae_0_15" descr="Patrón de fondo&#10;&#10;El contenido generado por IA puede ser incorrec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724318" y="7734231"/>
            <a:ext cx="1906082" cy="495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g391809642ae_0_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26325" y="1970875"/>
            <a:ext cx="11468100" cy="454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"/>
          <p:cNvSpPr/>
          <p:nvPr/>
        </p:nvSpPr>
        <p:spPr>
          <a:xfrm>
            <a:off x="863798" y="704017"/>
            <a:ext cx="7489388" cy="578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388"/>
              </a:lnSpc>
              <a:spcBef>
                <a:spcPts val="0"/>
              </a:spcBef>
              <a:spcAft>
                <a:spcPts val="0"/>
              </a:spcAft>
              <a:buClr>
                <a:srgbClr val="F5F0F0"/>
              </a:buClr>
              <a:buSzPts val="3600"/>
              <a:buFont typeface="Merriweather"/>
              <a:buNone/>
            </a:pPr>
            <a:r>
              <a:rPr lang="en-US" sz="360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ARQUITECTURA DEL SOFTWARE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863798" y="1560076"/>
            <a:ext cx="12902803" cy="592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450"/>
              <a:buFont typeface="Merriweather"/>
              <a:buNone/>
            </a:pPr>
            <a:r>
              <a:rPr lang="en-US" sz="14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La plataforma se concibe bajo una arquitectura robusta y escalable, diseñada para soportar las demandas de un sistema de gestión de citas médicas.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3" name="Google Shape;223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798" y="2360771"/>
            <a:ext cx="7532132" cy="4364117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8"/>
          <p:cNvSpPr/>
          <p:nvPr/>
        </p:nvSpPr>
        <p:spPr>
          <a:xfrm>
            <a:off x="863798" y="6933128"/>
            <a:ext cx="12902803" cy="592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450"/>
              <a:buFont typeface="Merriweather"/>
              <a:buNone/>
            </a:pPr>
            <a:r>
              <a:rPr lang="en-US" sz="14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Este esquema detalla la interacción entre los componentes clave del sistema: la interfaz de usuario, el servidor de aplicaciones (Django), la base de datos (MySQL) y los módulos de autenticación y notificaciones, garantizando un flujo de trabajo armonioso y eficiente.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5" name="Google Shape;225;p8" descr="Patrón de fondo&#10;&#10;El contenido generado por IA puede ser incorrec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24318" y="7734231"/>
            <a:ext cx="1906082" cy="495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"/>
          <p:cNvSpPr/>
          <p:nvPr/>
        </p:nvSpPr>
        <p:spPr>
          <a:xfrm>
            <a:off x="863798" y="760095"/>
            <a:ext cx="5245060" cy="655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609"/>
              </a:lnSpc>
              <a:spcBef>
                <a:spcPts val="0"/>
              </a:spcBef>
              <a:spcAft>
                <a:spcPts val="0"/>
              </a:spcAft>
              <a:buClr>
                <a:srgbClr val="F5F0F0"/>
              </a:buClr>
              <a:buSzPts val="4100"/>
              <a:buFont typeface="Merriweather"/>
              <a:buNone/>
            </a:pPr>
            <a:r>
              <a:rPr lang="en-US" sz="410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MODELO DE DATOS</a:t>
            </a:r>
            <a:endParaRPr sz="4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863798" y="1730335"/>
            <a:ext cx="12902803" cy="671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650"/>
              <a:buFont typeface="Merriweather"/>
              <a:buNone/>
            </a:pPr>
            <a:r>
              <a:rPr lang="en-US" sz="16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Nuestro modelo de datos ha sido diseñado con precisión para asegurar la integridad, eficiencia y escalabilidad de la información gestionada. Cada entidad y relación ha sido optimizada para un rendimiento superior.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798" y="2637592"/>
            <a:ext cx="10967323" cy="3924538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9"/>
          <p:cNvSpPr/>
          <p:nvPr/>
        </p:nvSpPr>
        <p:spPr>
          <a:xfrm>
            <a:off x="863798" y="6798112"/>
            <a:ext cx="12902803" cy="671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650"/>
              <a:buFont typeface="Merriweather"/>
              <a:buNone/>
            </a:pPr>
            <a:r>
              <a:rPr lang="en-US" sz="16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Este esquema entidad-relación muestra cómo se organizan las tablas de usuarios, médicos, pacientes, citas y especialidades, estableciendo conexiones lógicas para una gestión de datos coherente y fiable.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Google Shape;235;p9" descr="Patrón de fondo&#10;&#10;El contenido generado por IA puede ser incorrec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24318" y="7734231"/>
            <a:ext cx="1906082" cy="495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0"/>
          <p:cNvSpPr/>
          <p:nvPr/>
        </p:nvSpPr>
        <p:spPr>
          <a:xfrm>
            <a:off x="863798" y="1314093"/>
            <a:ext cx="8596789" cy="771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42"/>
              </a:lnSpc>
              <a:spcBef>
                <a:spcPts val="0"/>
              </a:spcBef>
              <a:spcAft>
                <a:spcPts val="0"/>
              </a:spcAft>
              <a:buClr>
                <a:srgbClr val="F5F0F0"/>
              </a:buClr>
              <a:buSzPts val="4850"/>
              <a:buFont typeface="Merriweather"/>
              <a:buNone/>
            </a:pPr>
            <a:r>
              <a:rPr lang="en-US" sz="4850" dirty="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TECNOLOGÍAS UTILIZADAS</a:t>
            </a:r>
            <a:endParaRPr sz="48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863798" y="2579013"/>
            <a:ext cx="12902803" cy="789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Merriweather"/>
              <a:buNone/>
            </a:pPr>
            <a:r>
              <a:rPr lang="en-US" sz="19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La selección de tecnologías clave garantiza la </a:t>
            </a:r>
            <a:r>
              <a:rPr lang="en-US" sz="1900">
                <a:solidFill>
                  <a:srgbClr val="609DFF"/>
                </a:solidFill>
                <a:latin typeface="Merriweather"/>
                <a:ea typeface="Merriweather"/>
                <a:cs typeface="Merriweather"/>
                <a:sym typeface="Merriweather"/>
              </a:rPr>
              <a:t>robustez, escalabilidad y una experiencia de usuario moderna</a:t>
            </a:r>
            <a:r>
              <a:rPr lang="en-US" sz="19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para la plataforma de gestión de citas médicas.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863798" y="3646289"/>
            <a:ext cx="12902803" cy="3269218"/>
          </a:xfrm>
          <a:prstGeom prst="roundRect">
            <a:avLst>
              <a:gd name="adj" fmla="val 3171"/>
            </a:avLst>
          </a:prstGeom>
          <a:solidFill>
            <a:srgbClr val="003180"/>
          </a:solidFill>
          <a:ln w="15225" cap="flat" cmpd="sng">
            <a:solidFill>
              <a:srgbClr val="194A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879038" y="3661529"/>
            <a:ext cx="4290774" cy="1816775"/>
          </a:xfrm>
          <a:prstGeom prst="roundRect">
            <a:avLst>
              <a:gd name="adj" fmla="val 5706"/>
            </a:avLst>
          </a:prstGeom>
          <a:solidFill>
            <a:srgbClr val="00318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1125855" y="3908346"/>
            <a:ext cx="3085386" cy="385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400"/>
              <a:buFont typeface="Merriweather"/>
              <a:buNone/>
            </a:pPr>
            <a:r>
              <a:rPr lang="en-US" sz="24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Frontend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1125855" y="4441865"/>
            <a:ext cx="3426976" cy="789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Merriweather"/>
              <a:buNone/>
            </a:pPr>
            <a:r>
              <a:rPr lang="en-US" sz="19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HTML5, CSS, Bootstrap 5, AJAX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5169813" y="3661529"/>
            <a:ext cx="4290774" cy="1816775"/>
          </a:xfrm>
          <a:prstGeom prst="rect">
            <a:avLst/>
          </a:prstGeom>
          <a:solidFill>
            <a:srgbClr val="00318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5169813" y="3661529"/>
            <a:ext cx="30480" cy="1816775"/>
          </a:xfrm>
          <a:prstGeom prst="roundRect">
            <a:avLst>
              <a:gd name="adj" fmla="val 340122"/>
            </a:avLst>
          </a:prstGeom>
          <a:solidFill>
            <a:srgbClr val="194A9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5786795" y="3908346"/>
            <a:ext cx="3056811" cy="385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400"/>
              <a:buFont typeface="Merriweather"/>
              <a:buNone/>
            </a:pPr>
            <a:r>
              <a:rPr lang="en-US" sz="24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Backend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5786795" y="4441865"/>
            <a:ext cx="3056811" cy="789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Merriweather"/>
              <a:buNone/>
            </a:pPr>
            <a:r>
              <a:rPr lang="en-US" sz="19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Python 3.13.7, Django 5.2.7 (MVT)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4861322" y="4261366"/>
            <a:ext cx="616982" cy="616982"/>
          </a:xfrm>
          <a:prstGeom prst="roundRect">
            <a:avLst>
              <a:gd name="adj" fmla="val 16803"/>
            </a:avLst>
          </a:prstGeom>
          <a:solidFill>
            <a:srgbClr val="09151A">
              <a:alpha val="94901"/>
            </a:srgbClr>
          </a:solidFill>
          <a:ln w="30475" cap="flat" cmpd="sng">
            <a:solidFill>
              <a:srgbClr val="194A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2" name="Google Shape;252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15508" y="4415552"/>
            <a:ext cx="308491" cy="308491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0"/>
          <p:cNvSpPr/>
          <p:nvPr/>
        </p:nvSpPr>
        <p:spPr>
          <a:xfrm>
            <a:off x="9460587" y="3661529"/>
            <a:ext cx="4290774" cy="1816775"/>
          </a:xfrm>
          <a:prstGeom prst="rect">
            <a:avLst/>
          </a:prstGeom>
          <a:solidFill>
            <a:srgbClr val="00318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9460587" y="3661529"/>
            <a:ext cx="30480" cy="1816775"/>
          </a:xfrm>
          <a:prstGeom prst="roundRect">
            <a:avLst>
              <a:gd name="adj" fmla="val 340122"/>
            </a:avLst>
          </a:prstGeom>
          <a:solidFill>
            <a:srgbClr val="194A9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10077569" y="3908346"/>
            <a:ext cx="3085386" cy="385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400"/>
              <a:buFont typeface="Merriweather"/>
              <a:buNone/>
            </a:pPr>
            <a:r>
              <a:rPr lang="en-US" sz="24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Base de Datos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10077569" y="4441865"/>
            <a:ext cx="3426976" cy="394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Merriweather"/>
              <a:buNone/>
            </a:pPr>
            <a:r>
              <a:rPr lang="en-US" sz="19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MySQL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9152096" y="4261366"/>
            <a:ext cx="616982" cy="616982"/>
          </a:xfrm>
          <a:prstGeom prst="roundRect">
            <a:avLst>
              <a:gd name="adj" fmla="val 16803"/>
            </a:avLst>
          </a:prstGeom>
          <a:solidFill>
            <a:srgbClr val="09151A">
              <a:alpha val="94901"/>
            </a:srgbClr>
          </a:solidFill>
          <a:ln w="30475" cap="flat" cmpd="sng">
            <a:solidFill>
              <a:srgbClr val="194A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8" name="Google Shape;258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06282" y="4415552"/>
            <a:ext cx="308491" cy="308491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0"/>
          <p:cNvSpPr/>
          <p:nvPr/>
        </p:nvSpPr>
        <p:spPr>
          <a:xfrm>
            <a:off x="879038" y="5478304"/>
            <a:ext cx="6436162" cy="1421963"/>
          </a:xfrm>
          <a:prstGeom prst="rect">
            <a:avLst/>
          </a:prstGeom>
          <a:solidFill>
            <a:srgbClr val="00318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879038" y="5478304"/>
            <a:ext cx="6436162" cy="30480"/>
          </a:xfrm>
          <a:prstGeom prst="roundRect">
            <a:avLst>
              <a:gd name="adj" fmla="val 340122"/>
            </a:avLst>
          </a:prstGeom>
          <a:solidFill>
            <a:srgbClr val="194A9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1125855" y="5725120"/>
            <a:ext cx="3085386" cy="385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400"/>
              <a:buFont typeface="Merriweather"/>
              <a:buNone/>
            </a:pPr>
            <a:r>
              <a:rPr lang="en-US" sz="24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Control de Versiones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1125855" y="6258639"/>
            <a:ext cx="5572363" cy="394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Merriweather"/>
              <a:buNone/>
            </a:pPr>
            <a:r>
              <a:rPr lang="en-US" sz="19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GitHub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7315200" y="5478304"/>
            <a:ext cx="6436162" cy="1421963"/>
          </a:xfrm>
          <a:prstGeom prst="rect">
            <a:avLst/>
          </a:prstGeom>
          <a:solidFill>
            <a:srgbClr val="00318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7315200" y="5478304"/>
            <a:ext cx="30480" cy="1421963"/>
          </a:xfrm>
          <a:prstGeom prst="roundRect">
            <a:avLst>
              <a:gd name="adj" fmla="val 340122"/>
            </a:avLst>
          </a:prstGeom>
          <a:solidFill>
            <a:srgbClr val="194A9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7315200" y="5478304"/>
            <a:ext cx="6436162" cy="30480"/>
          </a:xfrm>
          <a:prstGeom prst="roundRect">
            <a:avLst>
              <a:gd name="adj" fmla="val 340122"/>
            </a:avLst>
          </a:prstGeom>
          <a:solidFill>
            <a:srgbClr val="194A9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7932182" y="5725120"/>
            <a:ext cx="3085386" cy="385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400"/>
              <a:buFont typeface="Merriweather"/>
              <a:buNone/>
            </a:pPr>
            <a:r>
              <a:rPr lang="en-US" sz="24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Herramientas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7932182" y="6258639"/>
            <a:ext cx="5572363" cy="394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Merriweather"/>
              <a:buNone/>
            </a:pPr>
            <a:r>
              <a:rPr lang="en-US" sz="19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StarUML, VSCode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7006709" y="5880735"/>
            <a:ext cx="616982" cy="616982"/>
          </a:xfrm>
          <a:prstGeom prst="roundRect">
            <a:avLst>
              <a:gd name="adj" fmla="val 16803"/>
            </a:avLst>
          </a:prstGeom>
          <a:solidFill>
            <a:srgbClr val="09151A">
              <a:alpha val="94901"/>
            </a:srgbClr>
          </a:solidFill>
          <a:ln w="30475" cap="flat" cmpd="sng">
            <a:solidFill>
              <a:srgbClr val="194A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9" name="Google Shape;269;p1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60895" y="6034921"/>
            <a:ext cx="308491" cy="308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0" descr="Patrón de fondo&#10;&#10;El contenido generado por IA puede ser incorrecto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724318" y="7734231"/>
            <a:ext cx="1906082" cy="495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1"/>
          <p:cNvSpPr/>
          <p:nvPr/>
        </p:nvSpPr>
        <p:spPr>
          <a:xfrm>
            <a:off x="1270992" y="3729157"/>
            <a:ext cx="12088297" cy="771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4742"/>
              </a:lnSpc>
              <a:spcBef>
                <a:spcPts val="0"/>
              </a:spcBef>
              <a:spcAft>
                <a:spcPts val="0"/>
              </a:spcAft>
              <a:buClr>
                <a:srgbClr val="F5F0F0"/>
              </a:buClr>
              <a:buSzPts val="4850"/>
              <a:buFont typeface="Merriweather"/>
              <a:buNone/>
            </a:pPr>
            <a:r>
              <a:rPr lang="en-US" sz="485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Demostración del Resultado del Proyecto</a:t>
            </a:r>
            <a:endParaRPr sz="4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7" name="Google Shape;277;p11" descr="Patrón de fondo&#10;&#10;El contenido generado por IA puede ser incorrec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724318" y="7734231"/>
            <a:ext cx="1906082" cy="495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2"/>
          <p:cNvSpPr/>
          <p:nvPr/>
        </p:nvSpPr>
        <p:spPr>
          <a:xfrm>
            <a:off x="2902506" y="2416612"/>
            <a:ext cx="9909980" cy="1064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4626"/>
              </a:lnSpc>
              <a:spcBef>
                <a:spcPts val="0"/>
              </a:spcBef>
              <a:spcAft>
                <a:spcPts val="0"/>
              </a:spcAft>
              <a:buClr>
                <a:srgbClr val="F5F0F0"/>
              </a:buClr>
              <a:buSzPts val="6700"/>
              <a:buFont typeface="Merriweather"/>
              <a:buNone/>
            </a:pPr>
            <a:r>
              <a:rPr lang="en-US" sz="6700" dirty="0" err="1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Resultados</a:t>
            </a:r>
            <a:r>
              <a:rPr lang="en-US" sz="6700" dirty="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6700" dirty="0" err="1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Obtenidos</a:t>
            </a:r>
            <a:endParaRPr sz="67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2"/>
          <p:cNvSpPr/>
          <p:nvPr/>
        </p:nvSpPr>
        <p:spPr>
          <a:xfrm>
            <a:off x="863798" y="3974663"/>
            <a:ext cx="12902803" cy="394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Merriweather"/>
              <a:buChar char="•"/>
            </a:pPr>
            <a:r>
              <a:rPr lang="en-US" sz="19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Sistema funcional con flujo completo de citas médicas.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2"/>
          <p:cNvSpPr/>
          <p:nvPr/>
        </p:nvSpPr>
        <p:spPr>
          <a:xfrm>
            <a:off x="863798" y="4455795"/>
            <a:ext cx="12902803" cy="394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Merriweather"/>
              <a:buChar char="•"/>
            </a:pPr>
            <a:r>
              <a:rPr lang="en-US" sz="19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Panel administrativo simplificado.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2"/>
          <p:cNvSpPr/>
          <p:nvPr/>
        </p:nvSpPr>
        <p:spPr>
          <a:xfrm>
            <a:off x="863798" y="4936927"/>
            <a:ext cx="12902803" cy="394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Merriweather"/>
              <a:buChar char="•"/>
            </a:pPr>
            <a:r>
              <a:rPr lang="en-US" sz="19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Experiencia de usuario mejorada gracias a AJAX.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863798" y="5418058"/>
            <a:ext cx="12902803" cy="394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Merriweather"/>
              <a:buChar char="•"/>
            </a:pPr>
            <a:r>
              <a:rPr lang="en-US" sz="19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Arquitectura modular bajo patrón MVT.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8" name="Google Shape;288;p12" descr="Patrón de fondo&#10;&#10;El contenido generado por IA puede ser incorrec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724318" y="7734231"/>
            <a:ext cx="1906082" cy="495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3"/>
          <p:cNvSpPr/>
          <p:nvPr/>
        </p:nvSpPr>
        <p:spPr>
          <a:xfrm>
            <a:off x="2471023" y="2176105"/>
            <a:ext cx="10047548" cy="1064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4626"/>
              </a:lnSpc>
              <a:spcBef>
                <a:spcPts val="0"/>
              </a:spcBef>
              <a:spcAft>
                <a:spcPts val="0"/>
              </a:spcAft>
              <a:buClr>
                <a:srgbClr val="F5F0F0"/>
              </a:buClr>
              <a:buSzPts val="6700"/>
              <a:buFont typeface="Merriweather"/>
              <a:buNone/>
            </a:pPr>
            <a:r>
              <a:rPr lang="en-US" sz="6700" dirty="0" err="1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Obstáculos</a:t>
            </a:r>
            <a:r>
              <a:rPr lang="en-US" sz="6700" dirty="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6700" dirty="0" err="1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Presentados</a:t>
            </a:r>
            <a:endParaRPr sz="67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863798" y="3734157"/>
            <a:ext cx="12902803" cy="394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Merriweather"/>
              <a:buChar char="•"/>
            </a:pPr>
            <a:r>
              <a:rPr lang="en-US" sz="19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Dificultades iniciales con relaciones 1:1 en Django.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3"/>
          <p:cNvSpPr/>
          <p:nvPr/>
        </p:nvSpPr>
        <p:spPr>
          <a:xfrm>
            <a:off x="863798" y="4215289"/>
            <a:ext cx="12902803" cy="394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Merriweather"/>
              <a:buChar char="•"/>
            </a:pPr>
            <a:r>
              <a:rPr lang="en-US" sz="19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Ajustes de modelos por integridad referencial.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3"/>
          <p:cNvSpPr/>
          <p:nvPr/>
        </p:nvSpPr>
        <p:spPr>
          <a:xfrm>
            <a:off x="863798" y="4696420"/>
            <a:ext cx="12902803" cy="394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Merriweather"/>
              <a:buChar char="•"/>
            </a:pPr>
            <a:r>
              <a:rPr lang="en-US" sz="19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Problemas con vistas AJAX para cargar médicos según filtros.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863798" y="5177552"/>
            <a:ext cx="12902803" cy="394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Merriweather"/>
              <a:buChar char="•"/>
            </a:pPr>
            <a:r>
              <a:rPr lang="en-US" sz="19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Manejo de roles en una sola tabla de usuarios.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863798" y="5658683"/>
            <a:ext cx="12902803" cy="394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Merriweather"/>
              <a:buChar char="•"/>
            </a:pPr>
            <a:r>
              <a:rPr lang="en-US" sz="19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Complejidad al mostrar agenda médica semanal.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0" name="Google Shape;300;p13" descr="Patrón de fondo&#10;&#10;El contenido generado por IA puede ser incorrec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724318" y="7734231"/>
            <a:ext cx="1906082" cy="495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4"/>
          <p:cNvSpPr/>
          <p:nvPr/>
        </p:nvSpPr>
        <p:spPr>
          <a:xfrm>
            <a:off x="3057406" y="3582591"/>
            <a:ext cx="8515588" cy="1064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4626"/>
              </a:lnSpc>
              <a:spcBef>
                <a:spcPts val="0"/>
              </a:spcBef>
              <a:spcAft>
                <a:spcPts val="0"/>
              </a:spcAft>
              <a:buClr>
                <a:srgbClr val="F5F0F0"/>
              </a:buClr>
              <a:buSzPts val="6700"/>
              <a:buFont typeface="Merriweather"/>
              <a:buNone/>
            </a:pPr>
            <a:r>
              <a:rPr lang="en-US" sz="670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¿Preguntas?</a:t>
            </a:r>
            <a:endParaRPr sz="6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7" name="Google Shape;307;p14" descr="Patrón de fondo&#10;&#10;El contenido generado por IA puede ser incorrec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724318" y="7734231"/>
            <a:ext cx="1906082" cy="495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5"/>
          <p:cNvSpPr/>
          <p:nvPr/>
        </p:nvSpPr>
        <p:spPr>
          <a:xfrm>
            <a:off x="2209086" y="3582591"/>
            <a:ext cx="10212110" cy="1064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4626"/>
              </a:lnSpc>
              <a:spcBef>
                <a:spcPts val="0"/>
              </a:spcBef>
              <a:spcAft>
                <a:spcPts val="0"/>
              </a:spcAft>
              <a:buClr>
                <a:srgbClr val="F5F0F0"/>
              </a:buClr>
              <a:buSzPts val="6700"/>
              <a:buFont typeface="Merriweather"/>
              <a:buNone/>
            </a:pPr>
            <a:r>
              <a:rPr lang="en-US" sz="670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¡Gracias Por Su Atención!</a:t>
            </a:r>
            <a:endParaRPr sz="6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4" name="Google Shape;314;p15" descr="Patrón de fondo&#10;&#10;El contenido generado por IA puede ser incorrec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724318" y="7734231"/>
            <a:ext cx="1906082" cy="495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991</Words>
  <Application>Microsoft Office PowerPoint</Application>
  <PresentationFormat>Personalizado</PresentationFormat>
  <Paragraphs>116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Merriweather</vt:lpstr>
      <vt:lpstr>Calibri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Julio Díaz Rojo</cp:lastModifiedBy>
  <cp:revision>4</cp:revision>
  <dcterms:created xsi:type="dcterms:W3CDTF">2025-12-09T05:04:57Z</dcterms:created>
  <dcterms:modified xsi:type="dcterms:W3CDTF">2025-12-09T06:02:01Z</dcterms:modified>
</cp:coreProperties>
</file>